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5" r:id="rId5"/>
    <p:sldId id="273" r:id="rId6"/>
    <p:sldId id="274" r:id="rId7"/>
    <p:sldId id="276" r:id="rId8"/>
    <p:sldId id="281" r:id="rId9"/>
    <p:sldId id="260" r:id="rId10"/>
    <p:sldId id="262" r:id="rId11"/>
    <p:sldId id="261" r:id="rId12"/>
    <p:sldId id="279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7CEC7-1F26-4699-87A9-1BAEC9EB91D3}" v="155" dt="2026-02-15T12:07:54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74" autoAdjust="0"/>
    <p:restoredTop sz="94660"/>
  </p:normalViewPr>
  <p:slideViewPr>
    <p:cSldViewPr snapToGrid="0">
      <p:cViewPr>
        <p:scale>
          <a:sx n="63" d="100"/>
          <a:sy n="63" d="100"/>
        </p:scale>
        <p:origin x="936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7E394D-DDF1-4C13-B65D-0B5C3D65542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FEBF69E-CF56-4613-9FB3-D6997434F4F0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Transformer Dominance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ACC1C1-1CBE-4B30-AF18-23B5D261B40B}" type="parTrans" cxnId="{FF3572DA-07ED-4885-9B03-D6F78A1B2BB2}">
      <dgm:prSet/>
      <dgm:spPr/>
      <dgm:t>
        <a:bodyPr/>
        <a:lstStyle/>
        <a:p>
          <a:endParaRPr lang="en-US"/>
        </a:p>
      </dgm:t>
    </dgm:pt>
    <dgm:pt modelId="{8AC5B8C1-00AA-4421-AC5C-2CEA9AC14E4D}" type="sibTrans" cxnId="{FF3572DA-07ED-4885-9B03-D6F78A1B2BB2}">
      <dgm:prSet/>
      <dgm:spPr/>
      <dgm:t>
        <a:bodyPr/>
        <a:lstStyle/>
        <a:p>
          <a:endParaRPr lang="en-US"/>
        </a:p>
      </dgm:t>
    </dgm:pt>
    <dgm:pt modelId="{8A95D569-2F5A-4DB0-8176-B05F6139FCCE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BERT-based models (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FakeBERT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TruthSeeker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) achieve &gt;98–99% accuracy.</a:t>
          </a:r>
        </a:p>
      </dgm:t>
    </dgm:pt>
    <dgm:pt modelId="{6CDB8D10-00C2-496B-B8D0-5FFA8DEDE2F6}" type="parTrans" cxnId="{6661869B-93F2-4152-A324-35A43B85122B}">
      <dgm:prSet/>
      <dgm:spPr/>
      <dgm:t>
        <a:bodyPr/>
        <a:lstStyle/>
        <a:p>
          <a:endParaRPr lang="en-US"/>
        </a:p>
      </dgm:t>
    </dgm:pt>
    <dgm:pt modelId="{27E4FC8D-ED1C-4D01-98EC-7B75A9576BD2}" type="sibTrans" cxnId="{6661869B-93F2-4152-A324-35A43B85122B}">
      <dgm:prSet/>
      <dgm:spPr/>
      <dgm:t>
        <a:bodyPr/>
        <a:lstStyle/>
        <a:p>
          <a:endParaRPr lang="en-US"/>
        </a:p>
      </dgm:t>
    </dgm:pt>
    <dgm:pt modelId="{057123D6-6EC8-47F8-8D61-5454E10E1164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However, they require heavy computational resources and fine-tuning.</a:t>
          </a:r>
        </a:p>
      </dgm:t>
    </dgm:pt>
    <dgm:pt modelId="{F54D26D3-A752-4108-8864-BCED20CE4233}" type="parTrans" cxnId="{F913BC5C-443F-4F74-998D-F4057CB98BFA}">
      <dgm:prSet/>
      <dgm:spPr/>
      <dgm:t>
        <a:bodyPr/>
        <a:lstStyle/>
        <a:p>
          <a:endParaRPr lang="en-US"/>
        </a:p>
      </dgm:t>
    </dgm:pt>
    <dgm:pt modelId="{6D10FA61-07FF-4CE3-A085-336F1DD89B82}" type="sibTrans" cxnId="{F913BC5C-443F-4F74-998D-F4057CB98BFA}">
      <dgm:prSet/>
      <dgm:spPr/>
      <dgm:t>
        <a:bodyPr/>
        <a:lstStyle/>
        <a:p>
          <a:endParaRPr lang="en-US"/>
        </a:p>
      </dgm:t>
    </dgm:pt>
    <dgm:pt modelId="{91A54879-42FB-4663-AA8F-74B5D3B2CB8F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Not always practical for lightweight deployment.</a:t>
          </a:r>
        </a:p>
      </dgm:t>
    </dgm:pt>
    <dgm:pt modelId="{6ECBA37B-D15A-4F0E-8371-308DC8F9AFA4}" type="parTrans" cxnId="{FB9B801B-243D-4EB0-BFBE-4CEF11644AC9}">
      <dgm:prSet/>
      <dgm:spPr/>
      <dgm:t>
        <a:bodyPr/>
        <a:lstStyle/>
        <a:p>
          <a:endParaRPr lang="en-US"/>
        </a:p>
      </dgm:t>
    </dgm:pt>
    <dgm:pt modelId="{34E8A82F-D2E5-4A2A-AAEB-3459C63A3CDE}" type="sibTrans" cxnId="{FB9B801B-243D-4EB0-BFBE-4CEF11644AC9}">
      <dgm:prSet/>
      <dgm:spPr/>
      <dgm:t>
        <a:bodyPr/>
        <a:lstStyle/>
        <a:p>
          <a:endParaRPr lang="en-US"/>
        </a:p>
      </dgm:t>
    </dgm:pt>
    <dgm:pt modelId="{B8FAD48A-3CE0-46D5-855C-392E9975415A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Classical ML Remains Competitive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160DAA-CF37-4E1C-B4FB-14F29498F087}" type="parTrans" cxnId="{E7AC429F-F04F-48A6-BF56-A768F482ABEB}">
      <dgm:prSet/>
      <dgm:spPr/>
      <dgm:t>
        <a:bodyPr/>
        <a:lstStyle/>
        <a:p>
          <a:endParaRPr lang="en-US"/>
        </a:p>
      </dgm:t>
    </dgm:pt>
    <dgm:pt modelId="{80CEE059-9750-4DA2-8824-F1F8F09FA0DB}" type="sibTrans" cxnId="{E7AC429F-F04F-48A6-BF56-A768F482ABEB}">
      <dgm:prSet/>
      <dgm:spPr/>
      <dgm:t>
        <a:bodyPr/>
        <a:lstStyle/>
        <a:p>
          <a:endParaRPr lang="en-US"/>
        </a:p>
      </dgm:t>
    </dgm:pt>
    <dgm:pt modelId="{0D35CE6A-9BF5-4BB8-8916-BA2D5A0B592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Logistic Regression, SVM, and ensemble models still achieve accuracy  &gt;96–98%.</a:t>
          </a:r>
        </a:p>
      </dgm:t>
    </dgm:pt>
    <dgm:pt modelId="{9AB6F668-4F9A-4440-A55E-90E041E321A7}" type="parTrans" cxnId="{8593BB11-7DA0-4260-9410-C78F0A97FC2D}">
      <dgm:prSet/>
      <dgm:spPr/>
      <dgm:t>
        <a:bodyPr/>
        <a:lstStyle/>
        <a:p>
          <a:endParaRPr lang="en-US"/>
        </a:p>
      </dgm:t>
    </dgm:pt>
    <dgm:pt modelId="{5DD2757E-4E37-434E-B3BA-19B4B3171648}" type="sibTrans" cxnId="{8593BB11-7DA0-4260-9410-C78F0A97FC2D}">
      <dgm:prSet/>
      <dgm:spPr/>
      <dgm:t>
        <a:bodyPr/>
        <a:lstStyle/>
        <a:p>
          <a:endParaRPr lang="en-US"/>
        </a:p>
      </dgm:t>
    </dgm:pt>
    <dgm:pt modelId="{138386A1-D6ED-4E8C-AC71-306F01D0234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Efficient with TF-IDF features.</a:t>
          </a:r>
        </a:p>
      </dgm:t>
    </dgm:pt>
    <dgm:pt modelId="{FBB32AF6-902C-4482-857A-9A6F189EC68B}" type="parTrans" cxnId="{C1B84ADA-E7E3-4041-9D44-D25F82D560E2}">
      <dgm:prSet/>
      <dgm:spPr/>
      <dgm:t>
        <a:bodyPr/>
        <a:lstStyle/>
        <a:p>
          <a:endParaRPr lang="en-US"/>
        </a:p>
      </dgm:t>
    </dgm:pt>
    <dgm:pt modelId="{BFB5AB30-10B6-42D9-A93E-606EBB418F11}" type="sibTrans" cxnId="{C1B84ADA-E7E3-4041-9D44-D25F82D560E2}">
      <dgm:prSet/>
      <dgm:spPr/>
      <dgm:t>
        <a:bodyPr/>
        <a:lstStyle/>
        <a:p>
          <a:endParaRPr lang="en-US"/>
        </a:p>
      </dgm:t>
    </dgm:pt>
    <dgm:pt modelId="{56ECF8EC-6906-47C2-8876-85CCA0C60FF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Faster training and easier deployment.</a:t>
          </a:r>
        </a:p>
      </dgm:t>
    </dgm:pt>
    <dgm:pt modelId="{ABBA47F2-5CA1-4A21-8446-42994CE5076D}" type="parTrans" cxnId="{4B8E99F2-A683-41BF-BB32-5F5B43DAE22C}">
      <dgm:prSet/>
      <dgm:spPr/>
      <dgm:t>
        <a:bodyPr/>
        <a:lstStyle/>
        <a:p>
          <a:endParaRPr lang="en-US"/>
        </a:p>
      </dgm:t>
    </dgm:pt>
    <dgm:pt modelId="{6ACB3E2D-680A-43C1-BDCF-549DA4CC368F}" type="sibTrans" cxnId="{4B8E99F2-A683-41BF-BB32-5F5B43DAE22C}">
      <dgm:prSet/>
      <dgm:spPr/>
      <dgm:t>
        <a:bodyPr/>
        <a:lstStyle/>
        <a:p>
          <a:endParaRPr lang="en-US"/>
        </a:p>
      </dgm:t>
    </dgm:pt>
    <dgm:pt modelId="{EBC3693B-4492-4087-A834-7442B78C1F6F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Sentiment as a Strong Signal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6ED638-82A5-4312-969A-C2E7BCDEE23B}" type="parTrans" cxnId="{B6ECCAAB-7831-4C28-A02B-E0F2450EC0AC}">
      <dgm:prSet/>
      <dgm:spPr/>
      <dgm:t>
        <a:bodyPr/>
        <a:lstStyle/>
        <a:p>
          <a:endParaRPr lang="en-US"/>
        </a:p>
      </dgm:t>
    </dgm:pt>
    <dgm:pt modelId="{CA10DE83-4A97-4309-B7C3-1ADE9C0D7E36}" type="sibTrans" cxnId="{B6ECCAAB-7831-4C28-A02B-E0F2450EC0AC}">
      <dgm:prSet/>
      <dgm:spPr/>
      <dgm:t>
        <a:bodyPr/>
        <a:lstStyle/>
        <a:p>
          <a:endParaRPr lang="en-US"/>
        </a:p>
      </dgm:t>
    </dgm:pt>
    <dgm:pt modelId="{D83F9531-9A33-4923-90C5-83BBD345241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Multiple studies confirm fake news contains stronger negative emotional tone.</a:t>
          </a:r>
        </a:p>
      </dgm:t>
    </dgm:pt>
    <dgm:pt modelId="{36AFFC37-A260-4DAE-8F01-E58BDF963C14}" type="parTrans" cxnId="{318DCD53-1D6D-4B7B-A96D-8DA55488B347}">
      <dgm:prSet/>
      <dgm:spPr/>
      <dgm:t>
        <a:bodyPr/>
        <a:lstStyle/>
        <a:p>
          <a:endParaRPr lang="en-US"/>
        </a:p>
      </dgm:t>
    </dgm:pt>
    <dgm:pt modelId="{8F9F62FF-CF5F-48A8-9C41-4E7B05F47AAE}" type="sibTrans" cxnId="{318DCD53-1D6D-4B7B-A96D-8DA55488B347}">
      <dgm:prSet/>
      <dgm:spPr/>
      <dgm:t>
        <a:bodyPr/>
        <a:lstStyle/>
        <a:p>
          <a:endParaRPr lang="en-US"/>
        </a:p>
      </dgm:t>
    </dgm:pt>
    <dgm:pt modelId="{99F14C1A-F764-4066-8001-E96ADDAD05E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Emotion-based features improve detection.</a:t>
          </a:r>
        </a:p>
      </dgm:t>
    </dgm:pt>
    <dgm:pt modelId="{322E56B2-FDCE-4EDC-B113-EB32AC4E8C5D}" type="parTrans" cxnId="{24190521-94A5-45E2-9EA5-BED831E0443C}">
      <dgm:prSet/>
      <dgm:spPr/>
      <dgm:t>
        <a:bodyPr/>
        <a:lstStyle/>
        <a:p>
          <a:endParaRPr lang="en-US"/>
        </a:p>
      </dgm:t>
    </dgm:pt>
    <dgm:pt modelId="{C76436DD-7821-48E1-BD93-A4F1901CE696}" type="sibTrans" cxnId="{24190521-94A5-45E2-9EA5-BED831E0443C}">
      <dgm:prSet/>
      <dgm:spPr/>
      <dgm:t>
        <a:bodyPr/>
        <a:lstStyle/>
        <a:p>
          <a:endParaRPr lang="en-US"/>
        </a:p>
      </dgm:t>
    </dgm:pt>
    <dgm:pt modelId="{7C91C658-2AAC-4FB2-94EA-67C072BA385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Sentiment enhances interpretability.</a:t>
          </a:r>
        </a:p>
      </dgm:t>
    </dgm:pt>
    <dgm:pt modelId="{A9464C88-473C-4EBA-AD6B-829306A0DD65}" type="parTrans" cxnId="{7FB0C689-227E-498B-B29D-AD2185647402}">
      <dgm:prSet/>
      <dgm:spPr/>
      <dgm:t>
        <a:bodyPr/>
        <a:lstStyle/>
        <a:p>
          <a:endParaRPr lang="en-US"/>
        </a:p>
      </dgm:t>
    </dgm:pt>
    <dgm:pt modelId="{04A48C6D-1E6A-4B38-AA95-2391771C8C0A}" type="sibTrans" cxnId="{7FB0C689-227E-498B-B29D-AD2185647402}">
      <dgm:prSet/>
      <dgm:spPr/>
      <dgm:t>
        <a:bodyPr/>
        <a:lstStyle/>
        <a:p>
          <a:endParaRPr lang="en-US"/>
        </a:p>
      </dgm:t>
    </dgm:pt>
    <dgm:pt modelId="{76044E9B-C848-4D62-AD04-69A14FAB8557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Growing Need for Explainability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6089E2-4F0A-4ADB-810D-9EE6DC3B273E}" type="parTrans" cxnId="{C6497AFE-FE4A-43E9-9680-99D8052A9B13}">
      <dgm:prSet/>
      <dgm:spPr/>
      <dgm:t>
        <a:bodyPr/>
        <a:lstStyle/>
        <a:p>
          <a:endParaRPr lang="en-US"/>
        </a:p>
      </dgm:t>
    </dgm:pt>
    <dgm:pt modelId="{8FCFE85B-96A4-447B-A091-3B06B4315252}" type="sibTrans" cxnId="{C6497AFE-FE4A-43E9-9680-99D8052A9B13}">
      <dgm:prSet/>
      <dgm:spPr/>
      <dgm:t>
        <a:bodyPr/>
        <a:lstStyle/>
        <a:p>
          <a:endParaRPr lang="en-US"/>
        </a:p>
      </dgm:t>
    </dgm:pt>
    <dgm:pt modelId="{B4B60590-2E46-4E15-A686-98512CE8D68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SHAP and LIME increasingly used.</a:t>
          </a:r>
        </a:p>
      </dgm:t>
    </dgm:pt>
    <dgm:pt modelId="{5B39C591-03B7-4D75-9764-3F8B46D223D2}" type="parTrans" cxnId="{F506165B-4A71-4CD6-A04B-515797EE8F5E}">
      <dgm:prSet/>
      <dgm:spPr/>
      <dgm:t>
        <a:bodyPr/>
        <a:lstStyle/>
        <a:p>
          <a:endParaRPr lang="en-US"/>
        </a:p>
      </dgm:t>
    </dgm:pt>
    <dgm:pt modelId="{608B19AF-FC28-4D66-BDED-907170D2F365}" type="sibTrans" cxnId="{F506165B-4A71-4CD6-A04B-515797EE8F5E}">
      <dgm:prSet/>
      <dgm:spPr/>
      <dgm:t>
        <a:bodyPr/>
        <a:lstStyle/>
        <a:p>
          <a:endParaRPr lang="en-US"/>
        </a:p>
      </dgm:t>
    </dgm:pt>
    <dgm:pt modelId="{837EBF56-D3ED-41BE-9E97-C469D4E99D9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Trust in AI systems depends on interpretability.</a:t>
          </a:r>
        </a:p>
      </dgm:t>
    </dgm:pt>
    <dgm:pt modelId="{4D90DB3B-8DFF-4E08-883C-02738D07F1E6}" type="parTrans" cxnId="{D5613989-1F2F-47CE-8D10-F9FC0D64FC9D}">
      <dgm:prSet/>
      <dgm:spPr/>
      <dgm:t>
        <a:bodyPr/>
        <a:lstStyle/>
        <a:p>
          <a:endParaRPr lang="en-US"/>
        </a:p>
      </dgm:t>
    </dgm:pt>
    <dgm:pt modelId="{C89A336E-A72D-409F-93DD-8D35FDD85FFB}" type="sibTrans" cxnId="{D5613989-1F2F-47CE-8D10-F9FC0D64FC9D}">
      <dgm:prSet/>
      <dgm:spPr/>
      <dgm:t>
        <a:bodyPr/>
        <a:lstStyle/>
        <a:p>
          <a:endParaRPr lang="en-US"/>
        </a:p>
      </dgm:t>
    </dgm:pt>
    <dgm:pt modelId="{505EA0E3-5172-4EDA-BDA7-0258420DC4A1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Multimodal &amp; Multilingual Gap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7E0B7F-CE6C-49F7-BB90-45F6E6D545AA}" type="parTrans" cxnId="{6C0CE395-44FA-4AE5-9827-B1B764B74AEC}">
      <dgm:prSet/>
      <dgm:spPr/>
      <dgm:t>
        <a:bodyPr/>
        <a:lstStyle/>
        <a:p>
          <a:endParaRPr lang="en-US"/>
        </a:p>
      </dgm:t>
    </dgm:pt>
    <dgm:pt modelId="{C2871BB6-E3B3-42DE-965B-EB7F61CE5760}" type="sibTrans" cxnId="{6C0CE395-44FA-4AE5-9827-B1B764B74AEC}">
      <dgm:prSet/>
      <dgm:spPr/>
      <dgm:t>
        <a:bodyPr/>
        <a:lstStyle/>
        <a:p>
          <a:endParaRPr lang="en-US"/>
        </a:p>
      </dgm:t>
    </dgm:pt>
    <dgm:pt modelId="{F049554B-D8C0-4037-872F-CB4FD1B11D2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Most research focuses on English text.</a:t>
          </a:r>
        </a:p>
      </dgm:t>
    </dgm:pt>
    <dgm:pt modelId="{81DD516A-AABE-49AE-B3F6-5DFAD20C4E94}" type="parTrans" cxnId="{03A5EBB0-59C2-4C75-8E21-587CF083268C}">
      <dgm:prSet/>
      <dgm:spPr/>
      <dgm:t>
        <a:bodyPr/>
        <a:lstStyle/>
        <a:p>
          <a:endParaRPr lang="en-US"/>
        </a:p>
      </dgm:t>
    </dgm:pt>
    <dgm:pt modelId="{2B19354C-95E5-4E68-9E08-174C8CA4F1ED}" type="sibTrans" cxnId="{03A5EBB0-59C2-4C75-8E21-587CF083268C}">
      <dgm:prSet/>
      <dgm:spPr/>
      <dgm:t>
        <a:bodyPr/>
        <a:lstStyle/>
        <a:p>
          <a:endParaRPr lang="en-US"/>
        </a:p>
      </dgm:t>
    </dgm:pt>
    <dgm:pt modelId="{DF8CF839-DB27-415F-B835-9C16035A30B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Real-world fake news is multilingual and multimodal.    </a:t>
          </a:r>
        </a:p>
      </dgm:t>
    </dgm:pt>
    <dgm:pt modelId="{30FE096A-8E58-4743-BA14-051BB4B66F5D}" type="parTrans" cxnId="{28EE5078-1D0B-4E1F-A332-8E1854A494F5}">
      <dgm:prSet/>
      <dgm:spPr/>
      <dgm:t>
        <a:bodyPr/>
        <a:lstStyle/>
        <a:p>
          <a:endParaRPr lang="en-US"/>
        </a:p>
      </dgm:t>
    </dgm:pt>
    <dgm:pt modelId="{F7ED4C82-75DD-47E0-AB7D-96114FEC21C4}" type="sibTrans" cxnId="{28EE5078-1D0B-4E1F-A332-8E1854A494F5}">
      <dgm:prSet/>
      <dgm:spPr/>
      <dgm:t>
        <a:bodyPr/>
        <a:lstStyle/>
        <a:p>
          <a:endParaRPr lang="en-US"/>
        </a:p>
      </dgm:t>
    </dgm:pt>
    <dgm:pt modelId="{AFFFBEB6-5552-4C5F-AC05-09EE6DE62735}" type="pres">
      <dgm:prSet presAssocID="{B77E394D-DDF1-4C13-B65D-0B5C3D655420}" presName="Name0" presStyleCnt="0">
        <dgm:presLayoutVars>
          <dgm:dir/>
          <dgm:animLvl val="lvl"/>
          <dgm:resizeHandles val="exact"/>
        </dgm:presLayoutVars>
      </dgm:prSet>
      <dgm:spPr/>
    </dgm:pt>
    <dgm:pt modelId="{91D419F1-44E8-4580-865F-8F56FB55B3EF}" type="pres">
      <dgm:prSet presAssocID="{CFEBF69E-CF56-4613-9FB3-D6997434F4F0}" presName="composite" presStyleCnt="0"/>
      <dgm:spPr/>
    </dgm:pt>
    <dgm:pt modelId="{B64AE83E-A47B-47C7-B875-99B3282F2A5D}" type="pres">
      <dgm:prSet presAssocID="{CFEBF69E-CF56-4613-9FB3-D6997434F4F0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5E97A5CD-CDB5-47E0-A0A9-E5EC3ED1FC0F}" type="pres">
      <dgm:prSet presAssocID="{CFEBF69E-CF56-4613-9FB3-D6997434F4F0}" presName="desTx" presStyleLbl="alignAccFollowNode1" presStyleIdx="0" presStyleCnt="5">
        <dgm:presLayoutVars>
          <dgm:bulletEnabled val="1"/>
        </dgm:presLayoutVars>
      </dgm:prSet>
      <dgm:spPr/>
    </dgm:pt>
    <dgm:pt modelId="{1E1F98C7-2E63-46C4-A2C4-37F8DBC1D8EE}" type="pres">
      <dgm:prSet presAssocID="{8AC5B8C1-00AA-4421-AC5C-2CEA9AC14E4D}" presName="space" presStyleCnt="0"/>
      <dgm:spPr/>
    </dgm:pt>
    <dgm:pt modelId="{E1B70917-1259-48A3-AF89-720F491DDA6A}" type="pres">
      <dgm:prSet presAssocID="{B8FAD48A-3CE0-46D5-855C-392E9975415A}" presName="composite" presStyleCnt="0"/>
      <dgm:spPr/>
    </dgm:pt>
    <dgm:pt modelId="{EEE1B561-511F-4C1E-BEAF-1997063F1820}" type="pres">
      <dgm:prSet presAssocID="{B8FAD48A-3CE0-46D5-855C-392E9975415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28071629-AD1A-45F8-B012-3B0BABF4345B}" type="pres">
      <dgm:prSet presAssocID="{B8FAD48A-3CE0-46D5-855C-392E9975415A}" presName="desTx" presStyleLbl="alignAccFollowNode1" presStyleIdx="1" presStyleCnt="5">
        <dgm:presLayoutVars>
          <dgm:bulletEnabled val="1"/>
        </dgm:presLayoutVars>
      </dgm:prSet>
      <dgm:spPr/>
    </dgm:pt>
    <dgm:pt modelId="{CDA2206B-1873-427E-BDA1-F24FBC9AF906}" type="pres">
      <dgm:prSet presAssocID="{80CEE059-9750-4DA2-8824-F1F8F09FA0DB}" presName="space" presStyleCnt="0"/>
      <dgm:spPr/>
    </dgm:pt>
    <dgm:pt modelId="{D9D4C7E8-FC8D-4933-B6BB-F07D9FDEBCC5}" type="pres">
      <dgm:prSet presAssocID="{EBC3693B-4492-4087-A834-7442B78C1F6F}" presName="composite" presStyleCnt="0"/>
      <dgm:spPr/>
    </dgm:pt>
    <dgm:pt modelId="{3A588B4D-5BD2-4CCD-998A-BE5FF6B08034}" type="pres">
      <dgm:prSet presAssocID="{EBC3693B-4492-4087-A834-7442B78C1F6F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8D02C615-0D7D-4BEF-8EDA-8F9C8E186006}" type="pres">
      <dgm:prSet presAssocID="{EBC3693B-4492-4087-A834-7442B78C1F6F}" presName="desTx" presStyleLbl="alignAccFollowNode1" presStyleIdx="2" presStyleCnt="5">
        <dgm:presLayoutVars>
          <dgm:bulletEnabled val="1"/>
        </dgm:presLayoutVars>
      </dgm:prSet>
      <dgm:spPr/>
    </dgm:pt>
    <dgm:pt modelId="{B0BFE2D0-691E-4691-ADC0-47D89F1C0AEB}" type="pres">
      <dgm:prSet presAssocID="{CA10DE83-4A97-4309-B7C3-1ADE9C0D7E36}" presName="space" presStyleCnt="0"/>
      <dgm:spPr/>
    </dgm:pt>
    <dgm:pt modelId="{9733DA33-907D-47EA-A592-595D89242F46}" type="pres">
      <dgm:prSet presAssocID="{76044E9B-C848-4D62-AD04-69A14FAB8557}" presName="composite" presStyleCnt="0"/>
      <dgm:spPr/>
    </dgm:pt>
    <dgm:pt modelId="{EDE178CE-D3C8-4FEB-A7C4-832DBC01A8DA}" type="pres">
      <dgm:prSet presAssocID="{76044E9B-C848-4D62-AD04-69A14FAB8557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FBF662D6-8E91-4AFD-A92A-751AA4388927}" type="pres">
      <dgm:prSet presAssocID="{76044E9B-C848-4D62-AD04-69A14FAB8557}" presName="desTx" presStyleLbl="alignAccFollowNode1" presStyleIdx="3" presStyleCnt="5">
        <dgm:presLayoutVars>
          <dgm:bulletEnabled val="1"/>
        </dgm:presLayoutVars>
      </dgm:prSet>
      <dgm:spPr/>
    </dgm:pt>
    <dgm:pt modelId="{89762291-BAA3-4ADF-8F38-14EC92D1A712}" type="pres">
      <dgm:prSet presAssocID="{8FCFE85B-96A4-447B-A091-3B06B4315252}" presName="space" presStyleCnt="0"/>
      <dgm:spPr/>
    </dgm:pt>
    <dgm:pt modelId="{FAEB496B-D924-4C00-9305-6B72AD7890F1}" type="pres">
      <dgm:prSet presAssocID="{505EA0E3-5172-4EDA-BDA7-0258420DC4A1}" presName="composite" presStyleCnt="0"/>
      <dgm:spPr/>
    </dgm:pt>
    <dgm:pt modelId="{C7B1CD3E-361D-4A86-BF68-E4ACCFF3A330}" type="pres">
      <dgm:prSet presAssocID="{505EA0E3-5172-4EDA-BDA7-0258420DC4A1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50E8A7F9-D53F-40D2-A342-E2EA2F183F04}" type="pres">
      <dgm:prSet presAssocID="{505EA0E3-5172-4EDA-BDA7-0258420DC4A1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9AE82F0A-5C25-425F-9D16-2D918C92578F}" type="presOf" srcId="{8A95D569-2F5A-4DB0-8176-B05F6139FCCE}" destId="{5E97A5CD-CDB5-47E0-A0A9-E5EC3ED1FC0F}" srcOrd="0" destOrd="0" presId="urn:microsoft.com/office/officeart/2005/8/layout/hList1"/>
    <dgm:cxn modelId="{8593BB11-7DA0-4260-9410-C78F0A97FC2D}" srcId="{B8FAD48A-3CE0-46D5-855C-392E9975415A}" destId="{0D35CE6A-9BF5-4BB8-8916-BA2D5A0B5921}" srcOrd="0" destOrd="0" parTransId="{9AB6F668-4F9A-4440-A55E-90E041E321A7}" sibTransId="{5DD2757E-4E37-434E-B3BA-19B4B3171648}"/>
    <dgm:cxn modelId="{FB9B801B-243D-4EB0-BFBE-4CEF11644AC9}" srcId="{CFEBF69E-CF56-4613-9FB3-D6997434F4F0}" destId="{91A54879-42FB-4663-AA8F-74B5D3B2CB8F}" srcOrd="2" destOrd="0" parTransId="{6ECBA37B-D15A-4F0E-8371-308DC8F9AFA4}" sibTransId="{34E8A82F-D2E5-4A2A-AAEB-3459C63A3CDE}"/>
    <dgm:cxn modelId="{24190521-94A5-45E2-9EA5-BED831E0443C}" srcId="{EBC3693B-4492-4087-A834-7442B78C1F6F}" destId="{99F14C1A-F764-4066-8001-E96ADDAD05EA}" srcOrd="1" destOrd="0" parTransId="{322E56B2-FDCE-4EDC-B113-EB32AC4E8C5D}" sibTransId="{C76436DD-7821-48E1-BD93-A4F1901CE696}"/>
    <dgm:cxn modelId="{F23EFE27-D3EB-46ED-BBC5-38370638B7B1}" type="presOf" srcId="{91A54879-42FB-4663-AA8F-74B5D3B2CB8F}" destId="{5E97A5CD-CDB5-47E0-A0A9-E5EC3ED1FC0F}" srcOrd="0" destOrd="2" presId="urn:microsoft.com/office/officeart/2005/8/layout/hList1"/>
    <dgm:cxn modelId="{03E9863E-9ECF-49A5-9398-F25C864CF49A}" type="presOf" srcId="{D83F9531-9A33-4923-90C5-83BBD345241F}" destId="{8D02C615-0D7D-4BEF-8EDA-8F9C8E186006}" srcOrd="0" destOrd="0" presId="urn:microsoft.com/office/officeart/2005/8/layout/hList1"/>
    <dgm:cxn modelId="{5B10B13E-9B4A-4255-99DA-2B76FB23C0FE}" type="presOf" srcId="{837EBF56-D3ED-41BE-9E97-C469D4E99D9B}" destId="{FBF662D6-8E91-4AFD-A92A-751AA4388927}" srcOrd="0" destOrd="1" presId="urn:microsoft.com/office/officeart/2005/8/layout/hList1"/>
    <dgm:cxn modelId="{F506165B-4A71-4CD6-A04B-515797EE8F5E}" srcId="{76044E9B-C848-4D62-AD04-69A14FAB8557}" destId="{B4B60590-2E46-4E15-A686-98512CE8D68D}" srcOrd="0" destOrd="0" parTransId="{5B39C591-03B7-4D75-9764-3F8B46D223D2}" sibTransId="{608B19AF-FC28-4D66-BDED-907170D2F365}"/>
    <dgm:cxn modelId="{F913BC5C-443F-4F74-998D-F4057CB98BFA}" srcId="{CFEBF69E-CF56-4613-9FB3-D6997434F4F0}" destId="{057123D6-6EC8-47F8-8D61-5454E10E1164}" srcOrd="1" destOrd="0" parTransId="{F54D26D3-A752-4108-8864-BCED20CE4233}" sibTransId="{6D10FA61-07FF-4CE3-A085-336F1DD89B82}"/>
    <dgm:cxn modelId="{EC40C55C-E532-4897-8DEA-FE6BBC3A2342}" type="presOf" srcId="{057123D6-6EC8-47F8-8D61-5454E10E1164}" destId="{5E97A5CD-CDB5-47E0-A0A9-E5EC3ED1FC0F}" srcOrd="0" destOrd="1" presId="urn:microsoft.com/office/officeart/2005/8/layout/hList1"/>
    <dgm:cxn modelId="{DF05B167-C8AF-43D3-8AD1-06B25B45EB68}" type="presOf" srcId="{F049554B-D8C0-4037-872F-CB4FD1B11D26}" destId="{50E8A7F9-D53F-40D2-A342-E2EA2F183F04}" srcOrd="0" destOrd="0" presId="urn:microsoft.com/office/officeart/2005/8/layout/hList1"/>
    <dgm:cxn modelId="{0DE0C769-107B-43ED-B647-F0F342CD0EE2}" type="presOf" srcId="{138386A1-D6ED-4E8C-AC71-306F01D02348}" destId="{28071629-AD1A-45F8-B012-3B0BABF4345B}" srcOrd="0" destOrd="1" presId="urn:microsoft.com/office/officeart/2005/8/layout/hList1"/>
    <dgm:cxn modelId="{08E3266D-E978-40D3-8859-A73158B78D4B}" type="presOf" srcId="{56ECF8EC-6906-47C2-8876-85CCA0C60FF7}" destId="{28071629-AD1A-45F8-B012-3B0BABF4345B}" srcOrd="0" destOrd="2" presId="urn:microsoft.com/office/officeart/2005/8/layout/hList1"/>
    <dgm:cxn modelId="{6D94756D-89CE-4482-B430-980BCF0DBBD7}" type="presOf" srcId="{0D35CE6A-9BF5-4BB8-8916-BA2D5A0B5921}" destId="{28071629-AD1A-45F8-B012-3B0BABF4345B}" srcOrd="0" destOrd="0" presId="urn:microsoft.com/office/officeart/2005/8/layout/hList1"/>
    <dgm:cxn modelId="{C0C4CB51-7DB0-4DF3-8596-5187B135627C}" type="presOf" srcId="{B77E394D-DDF1-4C13-B65D-0B5C3D655420}" destId="{AFFFBEB6-5552-4C5F-AC05-09EE6DE62735}" srcOrd="0" destOrd="0" presId="urn:microsoft.com/office/officeart/2005/8/layout/hList1"/>
    <dgm:cxn modelId="{CBD83C72-958E-4D97-8A09-31494F039A34}" type="presOf" srcId="{EBC3693B-4492-4087-A834-7442B78C1F6F}" destId="{3A588B4D-5BD2-4CCD-998A-BE5FF6B08034}" srcOrd="0" destOrd="0" presId="urn:microsoft.com/office/officeart/2005/8/layout/hList1"/>
    <dgm:cxn modelId="{3BAE4752-D84C-40F8-BA69-60E9A7D331D3}" type="presOf" srcId="{99F14C1A-F764-4066-8001-E96ADDAD05EA}" destId="{8D02C615-0D7D-4BEF-8EDA-8F9C8E186006}" srcOrd="0" destOrd="1" presId="urn:microsoft.com/office/officeart/2005/8/layout/hList1"/>
    <dgm:cxn modelId="{D6795A52-7A22-4BE6-80A1-65CCA533CC11}" type="presOf" srcId="{CFEBF69E-CF56-4613-9FB3-D6997434F4F0}" destId="{B64AE83E-A47B-47C7-B875-99B3282F2A5D}" srcOrd="0" destOrd="0" presId="urn:microsoft.com/office/officeart/2005/8/layout/hList1"/>
    <dgm:cxn modelId="{36936073-A428-412C-8FCF-6F1B2C15BFD1}" type="presOf" srcId="{B8FAD48A-3CE0-46D5-855C-392E9975415A}" destId="{EEE1B561-511F-4C1E-BEAF-1997063F1820}" srcOrd="0" destOrd="0" presId="urn:microsoft.com/office/officeart/2005/8/layout/hList1"/>
    <dgm:cxn modelId="{318DCD53-1D6D-4B7B-A96D-8DA55488B347}" srcId="{EBC3693B-4492-4087-A834-7442B78C1F6F}" destId="{D83F9531-9A33-4923-90C5-83BBD345241F}" srcOrd="0" destOrd="0" parTransId="{36AFFC37-A260-4DAE-8F01-E58BDF963C14}" sibTransId="{8F9F62FF-CF5F-48A8-9C41-4E7B05F47AAE}"/>
    <dgm:cxn modelId="{28EE5078-1D0B-4E1F-A332-8E1854A494F5}" srcId="{505EA0E3-5172-4EDA-BDA7-0258420DC4A1}" destId="{DF8CF839-DB27-415F-B835-9C16035A30B8}" srcOrd="1" destOrd="0" parTransId="{30FE096A-8E58-4743-BA14-051BB4B66F5D}" sibTransId="{F7ED4C82-75DD-47E0-AB7D-96114FEC21C4}"/>
    <dgm:cxn modelId="{EC1C0789-608D-4C27-B35A-D2CEDC19E390}" type="presOf" srcId="{DF8CF839-DB27-415F-B835-9C16035A30B8}" destId="{50E8A7F9-D53F-40D2-A342-E2EA2F183F04}" srcOrd="0" destOrd="1" presId="urn:microsoft.com/office/officeart/2005/8/layout/hList1"/>
    <dgm:cxn modelId="{D5613989-1F2F-47CE-8D10-F9FC0D64FC9D}" srcId="{76044E9B-C848-4D62-AD04-69A14FAB8557}" destId="{837EBF56-D3ED-41BE-9E97-C469D4E99D9B}" srcOrd="1" destOrd="0" parTransId="{4D90DB3B-8DFF-4E08-883C-02738D07F1E6}" sibTransId="{C89A336E-A72D-409F-93DD-8D35FDD85FFB}"/>
    <dgm:cxn modelId="{7FB0C689-227E-498B-B29D-AD2185647402}" srcId="{EBC3693B-4492-4087-A834-7442B78C1F6F}" destId="{7C91C658-2AAC-4FB2-94EA-67C072BA3856}" srcOrd="2" destOrd="0" parTransId="{A9464C88-473C-4EBA-AD6B-829306A0DD65}" sibTransId="{04A48C6D-1E6A-4B38-AA95-2391771C8C0A}"/>
    <dgm:cxn modelId="{6C0CE395-44FA-4AE5-9827-B1B764B74AEC}" srcId="{B77E394D-DDF1-4C13-B65D-0B5C3D655420}" destId="{505EA0E3-5172-4EDA-BDA7-0258420DC4A1}" srcOrd="4" destOrd="0" parTransId="{647E0B7F-CE6C-49F7-BB90-45F6E6D545AA}" sibTransId="{C2871BB6-E3B3-42DE-965B-EB7F61CE5760}"/>
    <dgm:cxn modelId="{6661869B-93F2-4152-A324-35A43B85122B}" srcId="{CFEBF69E-CF56-4613-9FB3-D6997434F4F0}" destId="{8A95D569-2F5A-4DB0-8176-B05F6139FCCE}" srcOrd="0" destOrd="0" parTransId="{6CDB8D10-00C2-496B-B8D0-5FFA8DEDE2F6}" sibTransId="{27E4FC8D-ED1C-4D01-98EC-7B75A9576BD2}"/>
    <dgm:cxn modelId="{E7AC429F-F04F-48A6-BF56-A768F482ABEB}" srcId="{B77E394D-DDF1-4C13-B65D-0B5C3D655420}" destId="{B8FAD48A-3CE0-46D5-855C-392E9975415A}" srcOrd="1" destOrd="0" parTransId="{EC160DAA-CF37-4E1C-B4FB-14F29498F087}" sibTransId="{80CEE059-9750-4DA2-8824-F1F8F09FA0DB}"/>
    <dgm:cxn modelId="{B6ECCAAB-7831-4C28-A02B-E0F2450EC0AC}" srcId="{B77E394D-DDF1-4C13-B65D-0B5C3D655420}" destId="{EBC3693B-4492-4087-A834-7442B78C1F6F}" srcOrd="2" destOrd="0" parTransId="{8E6ED638-82A5-4312-969A-C2E7BCDEE23B}" sibTransId="{CA10DE83-4A97-4309-B7C3-1ADE9C0D7E36}"/>
    <dgm:cxn modelId="{03A5EBB0-59C2-4C75-8E21-587CF083268C}" srcId="{505EA0E3-5172-4EDA-BDA7-0258420DC4A1}" destId="{F049554B-D8C0-4037-872F-CB4FD1B11D26}" srcOrd="0" destOrd="0" parTransId="{81DD516A-AABE-49AE-B3F6-5DFAD20C4E94}" sibTransId="{2B19354C-95E5-4E68-9E08-174C8CA4F1ED}"/>
    <dgm:cxn modelId="{1D4D21B8-AAFF-430C-A539-43925A9752C7}" type="presOf" srcId="{505EA0E3-5172-4EDA-BDA7-0258420DC4A1}" destId="{C7B1CD3E-361D-4A86-BF68-E4ACCFF3A330}" srcOrd="0" destOrd="0" presId="urn:microsoft.com/office/officeart/2005/8/layout/hList1"/>
    <dgm:cxn modelId="{4F8333BD-7DCD-46FC-A963-DCE00729DBF2}" type="presOf" srcId="{76044E9B-C848-4D62-AD04-69A14FAB8557}" destId="{EDE178CE-D3C8-4FEB-A7C4-832DBC01A8DA}" srcOrd="0" destOrd="0" presId="urn:microsoft.com/office/officeart/2005/8/layout/hList1"/>
    <dgm:cxn modelId="{9FD5A2C2-61B2-438A-AE8A-04962A0CF078}" type="presOf" srcId="{B4B60590-2E46-4E15-A686-98512CE8D68D}" destId="{FBF662D6-8E91-4AFD-A92A-751AA4388927}" srcOrd="0" destOrd="0" presId="urn:microsoft.com/office/officeart/2005/8/layout/hList1"/>
    <dgm:cxn modelId="{BA5A2FC5-64DD-4D56-9DF7-766902EAE47D}" type="presOf" srcId="{7C91C658-2AAC-4FB2-94EA-67C072BA3856}" destId="{8D02C615-0D7D-4BEF-8EDA-8F9C8E186006}" srcOrd="0" destOrd="2" presId="urn:microsoft.com/office/officeart/2005/8/layout/hList1"/>
    <dgm:cxn modelId="{C1B84ADA-E7E3-4041-9D44-D25F82D560E2}" srcId="{B8FAD48A-3CE0-46D5-855C-392E9975415A}" destId="{138386A1-D6ED-4E8C-AC71-306F01D02348}" srcOrd="1" destOrd="0" parTransId="{FBB32AF6-902C-4482-857A-9A6F189EC68B}" sibTransId="{BFB5AB30-10B6-42D9-A93E-606EBB418F11}"/>
    <dgm:cxn modelId="{FF3572DA-07ED-4885-9B03-D6F78A1B2BB2}" srcId="{B77E394D-DDF1-4C13-B65D-0B5C3D655420}" destId="{CFEBF69E-CF56-4613-9FB3-D6997434F4F0}" srcOrd="0" destOrd="0" parTransId="{36ACC1C1-1CBE-4B30-AF18-23B5D261B40B}" sibTransId="{8AC5B8C1-00AA-4421-AC5C-2CEA9AC14E4D}"/>
    <dgm:cxn modelId="{4B8E99F2-A683-41BF-BB32-5F5B43DAE22C}" srcId="{B8FAD48A-3CE0-46D5-855C-392E9975415A}" destId="{56ECF8EC-6906-47C2-8876-85CCA0C60FF7}" srcOrd="2" destOrd="0" parTransId="{ABBA47F2-5CA1-4A21-8446-42994CE5076D}" sibTransId="{6ACB3E2D-680A-43C1-BDCF-549DA4CC368F}"/>
    <dgm:cxn modelId="{C6497AFE-FE4A-43E9-9680-99D8052A9B13}" srcId="{B77E394D-DDF1-4C13-B65D-0B5C3D655420}" destId="{76044E9B-C848-4D62-AD04-69A14FAB8557}" srcOrd="3" destOrd="0" parTransId="{D86089E2-4F0A-4ADB-810D-9EE6DC3B273E}" sibTransId="{8FCFE85B-96A4-447B-A091-3B06B4315252}"/>
    <dgm:cxn modelId="{8F3E1147-868E-4ECC-AE34-5D2057855DE0}" type="presParOf" srcId="{AFFFBEB6-5552-4C5F-AC05-09EE6DE62735}" destId="{91D419F1-44E8-4580-865F-8F56FB55B3EF}" srcOrd="0" destOrd="0" presId="urn:microsoft.com/office/officeart/2005/8/layout/hList1"/>
    <dgm:cxn modelId="{5F458E43-8FB3-4983-B6AC-E1A7F0C8B761}" type="presParOf" srcId="{91D419F1-44E8-4580-865F-8F56FB55B3EF}" destId="{B64AE83E-A47B-47C7-B875-99B3282F2A5D}" srcOrd="0" destOrd="0" presId="urn:microsoft.com/office/officeart/2005/8/layout/hList1"/>
    <dgm:cxn modelId="{9ECEE82C-A96B-4809-9E31-2B48279DFD1A}" type="presParOf" srcId="{91D419F1-44E8-4580-865F-8F56FB55B3EF}" destId="{5E97A5CD-CDB5-47E0-A0A9-E5EC3ED1FC0F}" srcOrd="1" destOrd="0" presId="urn:microsoft.com/office/officeart/2005/8/layout/hList1"/>
    <dgm:cxn modelId="{D5392BE7-9192-4921-9E72-BE0C6BF1CEE1}" type="presParOf" srcId="{AFFFBEB6-5552-4C5F-AC05-09EE6DE62735}" destId="{1E1F98C7-2E63-46C4-A2C4-37F8DBC1D8EE}" srcOrd="1" destOrd="0" presId="urn:microsoft.com/office/officeart/2005/8/layout/hList1"/>
    <dgm:cxn modelId="{44067F45-43EC-455C-8D3F-0A1DF37E19AA}" type="presParOf" srcId="{AFFFBEB6-5552-4C5F-AC05-09EE6DE62735}" destId="{E1B70917-1259-48A3-AF89-720F491DDA6A}" srcOrd="2" destOrd="0" presId="urn:microsoft.com/office/officeart/2005/8/layout/hList1"/>
    <dgm:cxn modelId="{9DD5B59D-0A0B-4C0E-9B0F-930C1D79A2E5}" type="presParOf" srcId="{E1B70917-1259-48A3-AF89-720F491DDA6A}" destId="{EEE1B561-511F-4C1E-BEAF-1997063F1820}" srcOrd="0" destOrd="0" presId="urn:microsoft.com/office/officeart/2005/8/layout/hList1"/>
    <dgm:cxn modelId="{B22EFDA2-0CA5-40A0-A46A-6D7DA0E46ADA}" type="presParOf" srcId="{E1B70917-1259-48A3-AF89-720F491DDA6A}" destId="{28071629-AD1A-45F8-B012-3B0BABF4345B}" srcOrd="1" destOrd="0" presId="urn:microsoft.com/office/officeart/2005/8/layout/hList1"/>
    <dgm:cxn modelId="{5A03442A-CC4D-4CE1-BCEA-5524A5997341}" type="presParOf" srcId="{AFFFBEB6-5552-4C5F-AC05-09EE6DE62735}" destId="{CDA2206B-1873-427E-BDA1-F24FBC9AF906}" srcOrd="3" destOrd="0" presId="urn:microsoft.com/office/officeart/2005/8/layout/hList1"/>
    <dgm:cxn modelId="{F15E5BB0-4EFB-4F9B-A1FB-6B8775DF1085}" type="presParOf" srcId="{AFFFBEB6-5552-4C5F-AC05-09EE6DE62735}" destId="{D9D4C7E8-FC8D-4933-B6BB-F07D9FDEBCC5}" srcOrd="4" destOrd="0" presId="urn:microsoft.com/office/officeart/2005/8/layout/hList1"/>
    <dgm:cxn modelId="{0808FB68-9AA3-4DD9-A28C-24A09F5AF7B1}" type="presParOf" srcId="{D9D4C7E8-FC8D-4933-B6BB-F07D9FDEBCC5}" destId="{3A588B4D-5BD2-4CCD-998A-BE5FF6B08034}" srcOrd="0" destOrd="0" presId="urn:microsoft.com/office/officeart/2005/8/layout/hList1"/>
    <dgm:cxn modelId="{FD0FEFCB-C24D-4B16-AF0C-80C8A21E55CD}" type="presParOf" srcId="{D9D4C7E8-FC8D-4933-B6BB-F07D9FDEBCC5}" destId="{8D02C615-0D7D-4BEF-8EDA-8F9C8E186006}" srcOrd="1" destOrd="0" presId="urn:microsoft.com/office/officeart/2005/8/layout/hList1"/>
    <dgm:cxn modelId="{7424DF27-29E0-4196-A127-538B1F1B2F40}" type="presParOf" srcId="{AFFFBEB6-5552-4C5F-AC05-09EE6DE62735}" destId="{B0BFE2D0-691E-4691-ADC0-47D89F1C0AEB}" srcOrd="5" destOrd="0" presId="urn:microsoft.com/office/officeart/2005/8/layout/hList1"/>
    <dgm:cxn modelId="{5F90B33F-5A0E-4A7D-8989-3AE7FCD73B6F}" type="presParOf" srcId="{AFFFBEB6-5552-4C5F-AC05-09EE6DE62735}" destId="{9733DA33-907D-47EA-A592-595D89242F46}" srcOrd="6" destOrd="0" presId="urn:microsoft.com/office/officeart/2005/8/layout/hList1"/>
    <dgm:cxn modelId="{71E1651D-538B-4BC2-9E74-C96B6D82B0B0}" type="presParOf" srcId="{9733DA33-907D-47EA-A592-595D89242F46}" destId="{EDE178CE-D3C8-4FEB-A7C4-832DBC01A8DA}" srcOrd="0" destOrd="0" presId="urn:microsoft.com/office/officeart/2005/8/layout/hList1"/>
    <dgm:cxn modelId="{9FC46B1C-09D6-4687-89F4-27986C2DE9FC}" type="presParOf" srcId="{9733DA33-907D-47EA-A592-595D89242F46}" destId="{FBF662D6-8E91-4AFD-A92A-751AA4388927}" srcOrd="1" destOrd="0" presId="urn:microsoft.com/office/officeart/2005/8/layout/hList1"/>
    <dgm:cxn modelId="{2DB59B8B-4EF0-4EB1-B67F-2919DF74D7C5}" type="presParOf" srcId="{AFFFBEB6-5552-4C5F-AC05-09EE6DE62735}" destId="{89762291-BAA3-4ADF-8F38-14EC92D1A712}" srcOrd="7" destOrd="0" presId="urn:microsoft.com/office/officeart/2005/8/layout/hList1"/>
    <dgm:cxn modelId="{6193C441-5281-4629-9250-F128370DABC0}" type="presParOf" srcId="{AFFFBEB6-5552-4C5F-AC05-09EE6DE62735}" destId="{FAEB496B-D924-4C00-9305-6B72AD7890F1}" srcOrd="8" destOrd="0" presId="urn:microsoft.com/office/officeart/2005/8/layout/hList1"/>
    <dgm:cxn modelId="{1BFBA829-711D-4E4C-88CF-29177FF5B750}" type="presParOf" srcId="{FAEB496B-D924-4C00-9305-6B72AD7890F1}" destId="{C7B1CD3E-361D-4A86-BF68-E4ACCFF3A330}" srcOrd="0" destOrd="0" presId="urn:microsoft.com/office/officeart/2005/8/layout/hList1"/>
    <dgm:cxn modelId="{DA404CB2-6829-4158-AB88-E6E6040CB270}" type="presParOf" srcId="{FAEB496B-D924-4C00-9305-6B72AD7890F1}" destId="{50E8A7F9-D53F-40D2-A342-E2EA2F183F0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AE83E-A47B-47C7-B875-99B3282F2A5D}">
      <dsp:nvSpPr>
        <dsp:cNvPr id="0" name=""/>
        <dsp:cNvSpPr/>
      </dsp:nvSpPr>
      <dsp:spPr>
        <a:xfrm>
          <a:off x="4659" y="296217"/>
          <a:ext cx="1786330" cy="71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Transformer Dominance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59" y="296217"/>
        <a:ext cx="1786330" cy="714532"/>
      </dsp:txXfrm>
    </dsp:sp>
    <dsp:sp modelId="{5E97A5CD-CDB5-47E0-A0A9-E5EC3ED1FC0F}">
      <dsp:nvSpPr>
        <dsp:cNvPr id="0" name=""/>
        <dsp:cNvSpPr/>
      </dsp:nvSpPr>
      <dsp:spPr>
        <a:xfrm>
          <a:off x="4659" y="1010750"/>
          <a:ext cx="1786330" cy="3623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BERT-based models (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FakeBERT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TruthSeeker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 achieve &gt;98–99% accuracy.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However, they require heavy computational resources and fine-tuning.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Not always practical for lightweight deployment.</a:t>
          </a:r>
        </a:p>
      </dsp:txBody>
      <dsp:txXfrm>
        <a:off x="4659" y="1010750"/>
        <a:ext cx="1786330" cy="3623400"/>
      </dsp:txXfrm>
    </dsp:sp>
    <dsp:sp modelId="{EEE1B561-511F-4C1E-BEAF-1997063F1820}">
      <dsp:nvSpPr>
        <dsp:cNvPr id="0" name=""/>
        <dsp:cNvSpPr/>
      </dsp:nvSpPr>
      <dsp:spPr>
        <a:xfrm>
          <a:off x="2041077" y="296217"/>
          <a:ext cx="1786330" cy="71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Classical ML Remains Competitive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41077" y="296217"/>
        <a:ext cx="1786330" cy="714532"/>
      </dsp:txXfrm>
    </dsp:sp>
    <dsp:sp modelId="{28071629-AD1A-45F8-B012-3B0BABF4345B}">
      <dsp:nvSpPr>
        <dsp:cNvPr id="0" name=""/>
        <dsp:cNvSpPr/>
      </dsp:nvSpPr>
      <dsp:spPr>
        <a:xfrm>
          <a:off x="2041077" y="1010750"/>
          <a:ext cx="1786330" cy="3623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 Regression, SVM, and ensemble models still achieve accuracy  &gt;96–98%.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Efficient with TF-IDF features.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Faster training and easier deployment.</a:t>
          </a:r>
        </a:p>
      </dsp:txBody>
      <dsp:txXfrm>
        <a:off x="2041077" y="1010750"/>
        <a:ext cx="1786330" cy="3623400"/>
      </dsp:txXfrm>
    </dsp:sp>
    <dsp:sp modelId="{3A588B4D-5BD2-4CCD-998A-BE5FF6B08034}">
      <dsp:nvSpPr>
        <dsp:cNvPr id="0" name=""/>
        <dsp:cNvSpPr/>
      </dsp:nvSpPr>
      <dsp:spPr>
        <a:xfrm>
          <a:off x="4077494" y="296217"/>
          <a:ext cx="1786330" cy="71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Sentiment as a Strong Signal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77494" y="296217"/>
        <a:ext cx="1786330" cy="714532"/>
      </dsp:txXfrm>
    </dsp:sp>
    <dsp:sp modelId="{8D02C615-0D7D-4BEF-8EDA-8F9C8E186006}">
      <dsp:nvSpPr>
        <dsp:cNvPr id="0" name=""/>
        <dsp:cNvSpPr/>
      </dsp:nvSpPr>
      <dsp:spPr>
        <a:xfrm>
          <a:off x="4077494" y="1010750"/>
          <a:ext cx="1786330" cy="3623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Multiple studies confirm fake news contains stronger negative emotional tone.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Emotion-based features improve detection.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Sentiment enhances interpretability.</a:t>
          </a:r>
        </a:p>
      </dsp:txBody>
      <dsp:txXfrm>
        <a:off x="4077494" y="1010750"/>
        <a:ext cx="1786330" cy="3623400"/>
      </dsp:txXfrm>
    </dsp:sp>
    <dsp:sp modelId="{EDE178CE-D3C8-4FEB-A7C4-832DBC01A8DA}">
      <dsp:nvSpPr>
        <dsp:cNvPr id="0" name=""/>
        <dsp:cNvSpPr/>
      </dsp:nvSpPr>
      <dsp:spPr>
        <a:xfrm>
          <a:off x="6113911" y="296217"/>
          <a:ext cx="1786330" cy="71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Growing Need for Explainability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13911" y="296217"/>
        <a:ext cx="1786330" cy="714532"/>
      </dsp:txXfrm>
    </dsp:sp>
    <dsp:sp modelId="{FBF662D6-8E91-4AFD-A92A-751AA4388927}">
      <dsp:nvSpPr>
        <dsp:cNvPr id="0" name=""/>
        <dsp:cNvSpPr/>
      </dsp:nvSpPr>
      <dsp:spPr>
        <a:xfrm>
          <a:off x="6113911" y="1010750"/>
          <a:ext cx="1786330" cy="3623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>
              <a:latin typeface="Times New Roman" panose="02020603050405020304" pitchFamily="18" charset="0"/>
              <a:cs typeface="Times New Roman" panose="02020603050405020304" pitchFamily="18" charset="0"/>
            </a:rPr>
            <a:t>SHAP and LIME increasingly used.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Trust in AI systems depends on interpretability.</a:t>
          </a:r>
        </a:p>
      </dsp:txBody>
      <dsp:txXfrm>
        <a:off x="6113911" y="1010750"/>
        <a:ext cx="1786330" cy="3623400"/>
      </dsp:txXfrm>
    </dsp:sp>
    <dsp:sp modelId="{C7B1CD3E-361D-4A86-BF68-E4ACCFF3A330}">
      <dsp:nvSpPr>
        <dsp:cNvPr id="0" name=""/>
        <dsp:cNvSpPr/>
      </dsp:nvSpPr>
      <dsp:spPr>
        <a:xfrm>
          <a:off x="8150328" y="296217"/>
          <a:ext cx="1786330" cy="71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Multimodal &amp; Multilingual Gap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50328" y="296217"/>
        <a:ext cx="1786330" cy="714532"/>
      </dsp:txXfrm>
    </dsp:sp>
    <dsp:sp modelId="{50E8A7F9-D53F-40D2-A342-E2EA2F183F04}">
      <dsp:nvSpPr>
        <dsp:cNvPr id="0" name=""/>
        <dsp:cNvSpPr/>
      </dsp:nvSpPr>
      <dsp:spPr>
        <a:xfrm>
          <a:off x="8150328" y="1010750"/>
          <a:ext cx="1786330" cy="3623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>
              <a:latin typeface="Times New Roman" panose="02020603050405020304" pitchFamily="18" charset="0"/>
              <a:cs typeface="Times New Roman" panose="02020603050405020304" pitchFamily="18" charset="0"/>
            </a:rPr>
            <a:t>Most research focuses on English text.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Real-world fake news is multilingual and multimodal.    </a:t>
          </a:r>
        </a:p>
      </dsp:txBody>
      <dsp:txXfrm>
        <a:off x="8150328" y="1010750"/>
        <a:ext cx="1786330" cy="3623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9575A-D80F-44F5-B734-BBD12478107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D616F-5689-42B9-947B-DEE938F0E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42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6D616F-5689-42B9-947B-DEE938F0E0F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02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6D616F-5689-42B9-947B-DEE938F0E0F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970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4257"/>
            <a:ext cx="9144000" cy="2678066"/>
          </a:xfrm>
        </p:spPr>
        <p:txBody>
          <a:bodyPr>
            <a:normAutofit/>
          </a:bodyPr>
          <a:lstStyle/>
          <a:p>
            <a:r>
              <a:rPr sz="4800" dirty="0"/>
              <a:t>Fake News Detection using Machine Learning</a:t>
            </a:r>
            <a:r>
              <a:rPr lang="en-IN" sz="4800" dirty="0"/>
              <a:t> and Sentiment Analysis</a:t>
            </a:r>
            <a:endParaRPr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83885"/>
            <a:ext cx="3239387" cy="1222744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Submitted By:</a:t>
            </a:r>
            <a:endParaRPr lang="en-IN" dirty="0"/>
          </a:p>
          <a:p>
            <a:r>
              <a:rPr dirty="0"/>
              <a:t> Vaishnavi Kaushal</a:t>
            </a:r>
          </a:p>
          <a:p>
            <a:r>
              <a:rPr dirty="0"/>
              <a:t>23FE10CSE00480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Supervised By: </a:t>
            </a:r>
            <a:endParaRPr lang="en-IN" dirty="0"/>
          </a:p>
          <a:p>
            <a:r>
              <a:rPr lang="en-IN" dirty="0"/>
              <a:t>Dr</a:t>
            </a:r>
            <a:r>
              <a:rPr dirty="0"/>
              <a:t>. Babita Tiwari</a:t>
            </a: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4000" y="948070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IN" sz="2400" b="1" dirty="0"/>
              <a:t>School of Computer Science and Engineering</a:t>
            </a:r>
          </a:p>
          <a:p>
            <a:pPr>
              <a:lnSpc>
                <a:spcPct val="110000"/>
              </a:lnSpc>
            </a:pPr>
            <a:r>
              <a:rPr lang="en-IN" sz="24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Literature Review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Problem Statement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Objectives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Proposed Methodology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>
            <a:extLst>
              <a:ext uri="{FF2B5EF4-FFF2-40B4-BE49-F238E27FC236}">
                <a16:creationId xmlns:a16="http://schemas.microsoft.com/office/drawing/2014/main" id="{82A5A5A6-A5E4-7861-2891-54301CAA3F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1526" y="2837984"/>
            <a:ext cx="10907486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Fake news has become a major challenge in today’s digital world, spreading rapidly across social media and influencing public opinion, elections, and societal stability.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fact-checking is slow and cannot keep up with the scale and speed of online misinformation.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(ML) and Natural Language Processing (NLP) offer automated and scalable solutions for detecting fake news.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Classical ML models such as Naïve Bayes, Logistic Regression, SVM, Random Forest,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widely used due to their efficiency and strong performance on text classification tasks.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66D0B-E44D-80FA-4043-E1CD4166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F28AA8-5B35-E87A-EE3E-544FA801A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248F87-1C65-4DF4-AFA2-52A9A3D2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EF16D49-12EC-DBDD-7160-0606C40D7A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244D77-6EB9-C98F-B6DD-79D9906429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04DA38-C69C-83DF-93C4-11C16A2EE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D426CE2-B8D7-74D9-B3B2-5EAA9B0E2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02B2FB-88ED-3EE4-EE37-5627E7688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>
            <a:extLst>
              <a:ext uri="{FF2B5EF4-FFF2-40B4-BE49-F238E27FC236}">
                <a16:creationId xmlns:a16="http://schemas.microsoft.com/office/drawing/2014/main" id="{1B6DD399-7526-571E-6128-604DDEAB18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11304"/>
            <a:ext cx="10839680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However, a key limitation in prior research is lack of interpretability—many models predict fake/real labels but do not explain why.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Fake news often contains emotional or sentiment-laden language, making sentiment analysis a promising tool for interpretation.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evaluates six ML models for fake news detection and introduces post-hoc sentiment analysis (VADER) to understand the emotional tone behind predictions.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approach aims to achieve high accuracy and provide a meaningful explanation, aligning with recent research trends in explainable and interpretable AI.</a:t>
            </a:r>
          </a:p>
        </p:txBody>
      </p:sp>
    </p:spTree>
    <p:extLst>
      <p:ext uri="{BB962C8B-B14F-4D97-AF65-F5344CB8AC3E}">
        <p14:creationId xmlns:p14="http://schemas.microsoft.com/office/powerpoint/2010/main" val="134527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151BA170-BC68-D9BF-B215-E3AE6869FB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837501"/>
              </p:ext>
            </p:extLst>
          </p:nvPr>
        </p:nvGraphicFramePr>
        <p:xfrm>
          <a:off x="330102" y="754195"/>
          <a:ext cx="11531796" cy="5966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60">
                  <a:extLst>
                    <a:ext uri="{9D8B030D-6E8A-4147-A177-3AD203B41FA5}">
                      <a16:colId xmlns:a16="http://schemas.microsoft.com/office/drawing/2014/main" val="4213580735"/>
                    </a:ext>
                  </a:extLst>
                </a:gridCol>
                <a:gridCol w="2115238">
                  <a:extLst>
                    <a:ext uri="{9D8B030D-6E8A-4147-A177-3AD203B41FA5}">
                      <a16:colId xmlns:a16="http://schemas.microsoft.com/office/drawing/2014/main" val="2089912219"/>
                    </a:ext>
                  </a:extLst>
                </a:gridCol>
                <a:gridCol w="859316">
                  <a:extLst>
                    <a:ext uri="{9D8B030D-6E8A-4147-A177-3AD203B41FA5}">
                      <a16:colId xmlns:a16="http://schemas.microsoft.com/office/drawing/2014/main" val="1287969987"/>
                    </a:ext>
                  </a:extLst>
                </a:gridCol>
                <a:gridCol w="2445745">
                  <a:extLst>
                    <a:ext uri="{9D8B030D-6E8A-4147-A177-3AD203B41FA5}">
                      <a16:colId xmlns:a16="http://schemas.microsoft.com/office/drawing/2014/main" val="3913941799"/>
                    </a:ext>
                  </a:extLst>
                </a:gridCol>
                <a:gridCol w="1729648">
                  <a:extLst>
                    <a:ext uri="{9D8B030D-6E8A-4147-A177-3AD203B41FA5}">
                      <a16:colId xmlns:a16="http://schemas.microsoft.com/office/drawing/2014/main" val="3804722723"/>
                    </a:ext>
                  </a:extLst>
                </a:gridCol>
                <a:gridCol w="3310789">
                  <a:extLst>
                    <a:ext uri="{9D8B030D-6E8A-4147-A177-3AD203B41FA5}">
                      <a16:colId xmlns:a16="http://schemas.microsoft.com/office/drawing/2014/main" val="1217520344"/>
                    </a:ext>
                  </a:extLst>
                </a:gridCol>
              </a:tblGrid>
              <a:tr h="7682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Citation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Technique(s)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Dataset(s)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1691851"/>
                  </a:ext>
                </a:extLst>
              </a:tr>
              <a:tr h="129384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Alonso et al.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Sentiment + ML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Custom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Fake news has strongly negative sentiment; emotions help classification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3934941"/>
                  </a:ext>
                </a:extLst>
              </a:tr>
              <a:tr h="129384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Hamed et al.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2023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Sentiment + Emotion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Fakeddit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AUC ≈ 96.8%; emotion cues boost performance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909404"/>
                  </a:ext>
                </a:extLst>
              </a:tr>
              <a:tr h="129384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Farhoudinia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Emotion mining + BERT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Twitter (COVID)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Fake tweets show sharply negative emotional tone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803509"/>
                  </a:ext>
                </a:extLst>
              </a:tr>
              <a:tr h="129384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Kaliyar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al., (</a:t>
                      </a:r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FakeBERT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BERT + CNN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FakeNewsNet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transformer achieves ~99% accuracy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1284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CA00C11-6614-00C7-2EA4-BC515503AD51}"/>
              </a:ext>
            </a:extLst>
          </p:cNvPr>
          <p:cNvSpPr txBox="1"/>
          <p:nvPr/>
        </p:nvSpPr>
        <p:spPr>
          <a:xfrm>
            <a:off x="4087258" y="292530"/>
            <a:ext cx="3319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912779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5D60C0-7EE5-6E92-E7DD-D9D0628C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55" y="297455"/>
            <a:ext cx="11173925" cy="625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27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300F0-F04C-2E05-6945-A6A821B95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from Literature Review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A4C03A0F-82F6-72D0-B161-B29DAE5AF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901854"/>
              </p:ext>
            </p:extLst>
          </p:nvPr>
        </p:nvGraphicFramePr>
        <p:xfrm>
          <a:off x="925668" y="1998843"/>
          <a:ext cx="9941319" cy="49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51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AB8D2DC-0FE2-0CD6-96DB-99F2D9EB0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317" y="551788"/>
            <a:ext cx="5157787" cy="934715"/>
          </a:xfrm>
        </p:spPr>
        <p:txBody>
          <a:bodyPr anchor="t">
            <a:normAutofit fontScale="77500" lnSpcReduction="20000"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found in Literature Review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F33E98F-5F22-AAD4-E47E-3807F46A3B1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319495" y="507540"/>
            <a:ext cx="51831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Addressed in This Work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7EB589-33AE-EE1D-D085-B4B3602DF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31090"/>
            <a:ext cx="5157787" cy="4791918"/>
          </a:xfrm>
        </p:spPr>
        <p:txBody>
          <a:bodyPr anchor="ctr"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Overemphasis on Deep Learning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focus on BERT/LLMs.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comparative evaluation of classical ML models under uniform conditions.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Interpretability in Classical Models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models predict labels but do not explain reasoning.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rarely used as post-hoc explanation.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vs Practicality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models are often computationally heavy.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studies compare performance vs computational cost..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Post-hoc Sentiment Evaluation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Rarely used for analyzing prediction behavior after classification.</a:t>
            </a: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is often used as feature input.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9BB5C8B1-57A5-8F2E-BF0F-95525D8ADD79}"/>
              </a:ext>
            </a:extLst>
          </p:cNvPr>
          <p:cNvSpPr txBox="1">
            <a:spLocks noGrp="1" noChangeArrowheads="1"/>
          </p:cNvSpPr>
          <p:nvPr>
            <p:ph sz="quarter" idx="4"/>
          </p:nvPr>
        </p:nvSpPr>
        <p:spPr bwMode="auto">
          <a:xfrm>
            <a:off x="6319495" y="1331090"/>
            <a:ext cx="5183188" cy="454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evaluation of six classical ML models under uniform TF-IDF representation.</a:t>
            </a:r>
          </a:p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Introducing post-hoc sentiment analysis (VADER) for interpretability.</a:t>
            </a:r>
          </a:p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vs computational feasibility analysis.</a:t>
            </a:r>
          </a:p>
          <a:p>
            <a:pPr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Empirical validation of emotional polarity trends in fake news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bridges the gap between high accuracy and interpretability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C5E46C-D885-70C2-8709-1B5C7729113E}"/>
              </a:ext>
            </a:extLst>
          </p:cNvPr>
          <p:cNvCxnSpPr>
            <a:stCxn id="9" idx="1"/>
          </p:cNvCxnSpPr>
          <p:nvPr/>
        </p:nvCxnSpPr>
        <p:spPr>
          <a:xfrm>
            <a:off x="689317" y="1019146"/>
            <a:ext cx="10653873" cy="34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27E4CE-2433-1301-F0AB-E4D976F1391F}"/>
              </a:ext>
            </a:extLst>
          </p:cNvPr>
          <p:cNvCxnSpPr/>
          <p:nvPr/>
        </p:nvCxnSpPr>
        <p:spPr>
          <a:xfrm>
            <a:off x="5997575" y="358815"/>
            <a:ext cx="0" cy="59609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1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comparatively evaluate multiple machine learning models for fake news detection under uniform feature representation, and to enhance interpretability through post-hoc sentiment analysis, while balancing predictive performance and computational feasibility.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9" name="Rectangle 105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B2CC62-6A76-E342-B178-E81B8CAB58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six machine learning classifiers (NB, LR, KNN, SVM, RF,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fake news detection using TF-IDF features.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performance using stratified 5-fold cross-validation and standard classification metrics.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sentiment polarity using VADER as a post-hoc interpretability mechanism.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whether emotional negativity correlates with fake news predictions.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findings with recent transformer-based and sentiment-enhanced approaches in literature.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E153931-3F66-2BAD-72D6-23CF5B9FC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6" name="Rectangle 411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8" name="Right Triangle 4117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20" name="Rectangle 4119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6172" y="539750"/>
            <a:ext cx="6444184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pic>
        <p:nvPicPr>
          <p:cNvPr id="4098" name="Picture 2" descr="A black and white diagram with white text&#10;&#10;AI-generated content may be incorrect.">
            <a:extLst>
              <a:ext uri="{FF2B5EF4-FFF2-40B4-BE49-F238E27FC236}">
                <a16:creationId xmlns:a16="http://schemas.microsoft.com/office/drawing/2014/main" id="{483E0D74-6CFE-3598-792B-3C02D0EF6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8071" y="952033"/>
            <a:ext cx="3688022" cy="495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853AE6-EB54-8900-904B-4697326A3F69}"/>
              </a:ext>
            </a:extLst>
          </p:cNvPr>
          <p:cNvSpPr txBox="1">
            <a:spLocks/>
          </p:cNvSpPr>
          <p:nvPr/>
        </p:nvSpPr>
        <p:spPr>
          <a:xfrm>
            <a:off x="4826014" y="1806964"/>
            <a:ext cx="6364341" cy="44241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 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fake &amp; real news dataset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 (HTML removal, tokenization)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/bi-grams)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classifiers: NB, LR, KNN, SVM, RF,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80/20 train-test split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5-fold cross-validation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&amp; Precision-Recall Curve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Sentiment-Based Interpretability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VADER compound scores (-1 to +1)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sentiment distribution for predicted Fake vs Real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emotional polarity trends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C90C0-70B4-A65F-C4C4-569DCC24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C09E0D-9086-3FC2-83F9-BBEC49C6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75D1F9-F1E5-FD20-DD9F-36673883D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32FD554-50D0-EA37-1075-30109F96F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5A5D63-71F2-C40D-4160-C48D1BC79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23A09BA-075F-F945-6756-996E09A7B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162AF29-3996-44D8-2E10-D1A8D0526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37DA6-1E08-E834-FB89-5CEBAF40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083803-0D0E-F9C0-819C-EE89E2B0D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9B519DD4-C16B-99F7-4229-6350C0326B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80270"/>
            <a:ext cx="491022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Aphiwongsophon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Chongstitvatana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(2020)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Singh et al. (2020)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Pardamean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Pardede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(BERT)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Mouratidis et al.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 &amp; Bakir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TruthSeeker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Kaliyar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FakeBERT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Cui et al.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Dementieva &amp; Panchenko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Farhoudinia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SHAP/LIME works (Dua et al.)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survey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al.)</a:t>
            </a:r>
          </a:p>
        </p:txBody>
      </p:sp>
    </p:spTree>
    <p:extLst>
      <p:ext uri="{BB962C8B-B14F-4D97-AF65-F5344CB8AC3E}">
        <p14:creationId xmlns:p14="http://schemas.microsoft.com/office/powerpoint/2010/main" val="2423531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912</Words>
  <Application>Microsoft Office PowerPoint</Application>
  <PresentationFormat>Widescreen</PresentationFormat>
  <Paragraphs>133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Fake News Detection using Machine Learning and Sentiment Analysis</vt:lpstr>
      <vt:lpstr>Outline</vt:lpstr>
      <vt:lpstr>Introduction</vt:lpstr>
      <vt:lpstr>PowerPoint Presentation</vt:lpstr>
      <vt:lpstr>PowerPoint Presentation</vt:lpstr>
      <vt:lpstr>PowerPoint Presentation</vt:lpstr>
      <vt:lpstr>Key Findings from Literature Review  </vt:lpstr>
      <vt:lpstr>PowerPoint Presentation</vt:lpstr>
      <vt:lpstr>Problem Statement</vt:lpstr>
      <vt:lpstr>Objectives</vt:lpstr>
      <vt:lpstr>Proposed Methodology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shubhi kaushal</cp:lastModifiedBy>
  <cp:revision>7</cp:revision>
  <dcterms:created xsi:type="dcterms:W3CDTF">2025-09-29T05:03:41Z</dcterms:created>
  <dcterms:modified xsi:type="dcterms:W3CDTF">2026-02-15T12:08:48Z</dcterms:modified>
</cp:coreProperties>
</file>